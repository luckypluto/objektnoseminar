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sr-Latn-C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avokutnik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Pravokutnik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Pravokutnik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Pravokutnik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Pravokutnik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Zaobljeni pravokutnik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Zaobljeni pravokutnik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Pravokutnik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avokutnik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avokutnik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Pravokutnik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Naslov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9" name="Podnaslov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r-HR" smtClean="0"/>
              <a:t>Kliknite da biste uredili stil podnaslova matrice</a:t>
            </a:r>
            <a:endParaRPr kumimoji="0" lang="en-US"/>
          </a:p>
        </p:txBody>
      </p:sp>
      <p:sp>
        <p:nvSpPr>
          <p:cNvPr id="28" name="Rezervirano mjesto datum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17" name="Rezervirano mjesto podnožja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Rezervirano mjesto broja slajda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</p:txBody>
      </p:sp>
      <p:sp>
        <p:nvSpPr>
          <p:cNvPr id="5" name="Rezervirano mjesto sadržaja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26" name="Rezervirano mjesto datum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27" name="Rezervirano mjesto broja slajda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8" name="Rezervirano mjesto podnožja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hr-H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r-HR" smtClean="0"/>
              <a:t>Pritisnite ikonu za dodavanje slike</a:t>
            </a:r>
            <a:endParaRPr kumimoji="0" lang="en-US" dirty="0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hr-HR" smtClean="0"/>
              <a:t>Kliknite da biste uredili stilove teksta matrice</a:t>
            </a:r>
          </a:p>
          <a:p>
            <a:pPr lvl="1" eaLnBrk="1" latinLnBrk="0" hangingPunct="1"/>
            <a:r>
              <a:rPr lang="hr-HR" smtClean="0"/>
              <a:t>Druga razina</a:t>
            </a:r>
          </a:p>
          <a:p>
            <a:pPr lvl="2" eaLnBrk="1" latinLnBrk="0" hangingPunct="1"/>
            <a:r>
              <a:rPr lang="hr-HR" smtClean="0"/>
              <a:t>Treća razina</a:t>
            </a:r>
          </a:p>
          <a:p>
            <a:pPr lvl="3" eaLnBrk="1" latinLnBrk="0" hangingPunct="1"/>
            <a:r>
              <a:rPr lang="hr-HR" smtClean="0"/>
              <a:t>Četvrta razina</a:t>
            </a:r>
          </a:p>
          <a:p>
            <a:pPr lvl="4" eaLnBrk="1" latinLnBrk="0" hangingPunct="1"/>
            <a:r>
              <a:rPr lang="hr-HR" smtClean="0"/>
              <a:t>Peta razina</a:t>
            </a:r>
            <a:endParaRPr kumimoji="0" lang="en-US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ravokutnik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Pravokutnik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Pravokutnik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Pravokutnik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Pravokutnik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Zaobljeni pravokutnik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Zaobljeni pravokutnik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Pravokutnik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Pravokutnik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Pravokutnik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Pravokutnik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Pravokutnik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Pravokutnik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zervirano mjesto naslova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r-HR" smtClean="0"/>
              <a:t>Kliknite da biste uredili stil naslova matrice</a:t>
            </a:r>
            <a:endParaRPr kumimoji="0" lang="en-US"/>
          </a:p>
        </p:txBody>
      </p:sp>
      <p:sp>
        <p:nvSpPr>
          <p:cNvPr id="13" name="Rezervirano mjesto teksta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r-HR" smtClean="0"/>
              <a:t>Kliknite da biste uredili stilove teksta matrice</a:t>
            </a:r>
          </a:p>
          <a:p>
            <a:pPr lvl="1" eaLnBrk="1" latinLnBrk="0" hangingPunct="1"/>
            <a:r>
              <a:rPr kumimoji="0" lang="hr-HR" smtClean="0"/>
              <a:t>Druga razina</a:t>
            </a:r>
          </a:p>
          <a:p>
            <a:pPr lvl="2" eaLnBrk="1" latinLnBrk="0" hangingPunct="1"/>
            <a:r>
              <a:rPr kumimoji="0" lang="hr-HR" smtClean="0"/>
              <a:t>Treća razina</a:t>
            </a:r>
          </a:p>
          <a:p>
            <a:pPr lvl="3" eaLnBrk="1" latinLnBrk="0" hangingPunct="1"/>
            <a:r>
              <a:rPr kumimoji="0" lang="hr-HR" smtClean="0"/>
              <a:t>Četvrta razina</a:t>
            </a:r>
          </a:p>
          <a:p>
            <a:pPr lvl="4" eaLnBrk="1" latinLnBrk="0" hangingPunct="1"/>
            <a:r>
              <a:rPr kumimoji="0" lang="hr-HR" smtClean="0"/>
              <a:t>Peta razina</a:t>
            </a:r>
            <a:endParaRPr kumimoji="0" lang="en-US"/>
          </a:p>
        </p:txBody>
      </p:sp>
      <p:sp>
        <p:nvSpPr>
          <p:cNvPr id="14" name="Rezervirano mjesto datum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8E0AD17A-D5E7-4F3B-9ACE-71AE4C0F970A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Rezervirano mjesto broja slajda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AC1B33D-7BDD-48E3-B074-39CBE7A4C568}" type="slidenum">
              <a:rPr lang="hr-HR" smtClean="0"/>
              <a:pPr/>
              <a:t>‹#›</a:t>
            </a:fld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457200" y="1916833"/>
            <a:ext cx="8458200" cy="1955080"/>
          </a:xfrm>
        </p:spPr>
        <p:txBody>
          <a:bodyPr>
            <a:normAutofit/>
          </a:bodyPr>
          <a:lstStyle/>
          <a:p>
            <a:r>
              <a:rPr lang="hr-HR" sz="6000" dirty="0" err="1" smtClean="0">
                <a:latin typeface="+mn-lt"/>
              </a:rPr>
              <a:t>Objective</a:t>
            </a:r>
            <a:r>
              <a:rPr lang="hr-HR" sz="6000" dirty="0" smtClean="0"/>
              <a:t> C</a:t>
            </a:r>
            <a:endParaRPr lang="hr-HR" sz="6000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 smtClean="0"/>
              <a:t>Izradio: Jure Jerković</a:t>
            </a:r>
          </a:p>
          <a:p>
            <a:r>
              <a:rPr lang="hr-HR" dirty="0" smtClean="0"/>
              <a:t>11.1.2025.</a:t>
            </a: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1. Uvod u </a:t>
            </a:r>
            <a:r>
              <a:rPr lang="hr-HR" dirty="0" err="1" smtClean="0"/>
              <a:t>Objective</a:t>
            </a:r>
            <a:r>
              <a:rPr lang="hr-HR" dirty="0" smtClean="0"/>
              <a:t> C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je objektno orijentirani programski jezik koji proširuje jezik C.</a:t>
            </a:r>
          </a:p>
          <a:p>
            <a:endParaRPr lang="hr-HR" dirty="0" smtClean="0"/>
          </a:p>
          <a:p>
            <a:r>
              <a:rPr lang="hr-HR" dirty="0" smtClean="0"/>
              <a:t>Razvio ga je </a:t>
            </a:r>
            <a:r>
              <a:rPr lang="hr-HR" dirty="0" err="1" smtClean="0"/>
              <a:t>Brad</a:t>
            </a:r>
            <a:r>
              <a:rPr lang="hr-HR" dirty="0" smtClean="0"/>
              <a:t> Cox 1980-ih kao spoj C-a i </a:t>
            </a:r>
            <a:r>
              <a:rPr lang="hr-HR" dirty="0" err="1" smtClean="0"/>
              <a:t>Smalltalka</a:t>
            </a:r>
            <a:r>
              <a:rPr lang="hr-HR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1. Uvod u </a:t>
            </a:r>
            <a:r>
              <a:rPr lang="hr-HR" dirty="0" err="1" smtClean="0"/>
              <a:t>Objective</a:t>
            </a:r>
            <a:r>
              <a:rPr lang="hr-HR" dirty="0" smtClean="0"/>
              <a:t> C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je primarni programski jezik koji koristite kada pišete softver za OS X i </a:t>
            </a:r>
            <a:r>
              <a:rPr lang="hr-HR" dirty="0" err="1" smtClean="0"/>
              <a:t>iOS</a:t>
            </a:r>
            <a:r>
              <a:rPr lang="hr-HR" dirty="0" smtClean="0"/>
              <a:t>.</a:t>
            </a:r>
          </a:p>
          <a:p>
            <a:endParaRPr lang="hr-HR" dirty="0" smtClean="0"/>
          </a:p>
          <a:p>
            <a:r>
              <a:rPr lang="hr-HR" dirty="0" smtClean="0"/>
              <a:t>Objektno orijentiran: Omogućuje rad s klasama, objektima i metodama.</a:t>
            </a:r>
          </a:p>
          <a:p>
            <a:endParaRPr lang="hr-HR" dirty="0" smtClean="0"/>
          </a:p>
          <a:p>
            <a:r>
              <a:rPr lang="hr-HR" dirty="0" smtClean="0"/>
              <a:t>“Prethodnik” programskog jezika “</a:t>
            </a:r>
            <a:r>
              <a:rPr lang="hr-HR" dirty="0" err="1" smtClean="0"/>
              <a:t>Swift</a:t>
            </a:r>
            <a:r>
              <a:rPr lang="hr-HR" dirty="0" smtClean="0"/>
              <a:t>”.</a:t>
            </a:r>
          </a:p>
          <a:p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2. Svojstva </a:t>
            </a:r>
            <a:r>
              <a:rPr lang="hr-HR" dirty="0" err="1" smtClean="0"/>
              <a:t>Objective</a:t>
            </a:r>
            <a:r>
              <a:rPr lang="hr-HR" dirty="0" smtClean="0"/>
              <a:t> C-a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smtClean="0"/>
              <a:t>Proširenje C jezika: Apsolutna kompatibilnost s C programskim jezikom.</a:t>
            </a:r>
          </a:p>
          <a:p>
            <a:endParaRPr lang="hr-HR" dirty="0" smtClean="0"/>
          </a:p>
          <a:p>
            <a:endParaRPr lang="hr-HR" dirty="0" smtClean="0"/>
          </a:p>
          <a:p>
            <a:r>
              <a:rPr lang="hr-HR" dirty="0" smtClean="0"/>
              <a:t>Objektno orijentiran: Klase, objekti, nasljeđivanje, </a:t>
            </a:r>
            <a:r>
              <a:rPr lang="hr-HR" dirty="0" err="1" smtClean="0"/>
              <a:t>polimorfizam</a:t>
            </a:r>
            <a:endParaRPr lang="hr-HR" dirty="0" smtClean="0"/>
          </a:p>
          <a:p>
            <a:endParaRPr lang="hr-HR" dirty="0" smtClean="0">
              <a:latin typeface="Georgia" pitchFamily="18" charset="0"/>
            </a:endParaRPr>
          </a:p>
          <a:p>
            <a:endParaRPr lang="hr-HR" dirty="0"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2. Svojstva </a:t>
            </a:r>
            <a:r>
              <a:rPr lang="hr-HR" dirty="0" err="1" smtClean="0"/>
              <a:t>Objective</a:t>
            </a:r>
            <a:r>
              <a:rPr lang="hr-HR" dirty="0" smtClean="0"/>
              <a:t> C-a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smtClean="0"/>
              <a:t>Dinamičko slanje poruka: Poziv metoda tijekom </a:t>
            </a:r>
            <a:r>
              <a:rPr lang="hr-HR" dirty="0" err="1" smtClean="0"/>
              <a:t>runtime</a:t>
            </a:r>
            <a:r>
              <a:rPr lang="hr-HR" dirty="0" smtClean="0"/>
              <a:t>-a</a:t>
            </a:r>
          </a:p>
          <a:p>
            <a:endParaRPr lang="hr-HR" dirty="0" smtClean="0"/>
          </a:p>
          <a:p>
            <a:endParaRPr lang="hr-HR" dirty="0" smtClean="0"/>
          </a:p>
          <a:p>
            <a:r>
              <a:rPr lang="hr-HR" dirty="0" smtClean="0"/>
              <a:t>ARC(Automatic Reference </a:t>
            </a:r>
            <a:r>
              <a:rPr lang="hr-HR" dirty="0" err="1" smtClean="0"/>
              <a:t>Counting</a:t>
            </a:r>
            <a:r>
              <a:rPr lang="hr-HR" dirty="0" smtClean="0"/>
              <a:t>): Automatsko upravljanje memorijom</a:t>
            </a: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3. Primjena </a:t>
            </a:r>
            <a:r>
              <a:rPr lang="hr-HR" dirty="0" err="1" smtClean="0"/>
              <a:t>Objective</a:t>
            </a:r>
            <a:r>
              <a:rPr lang="hr-HR" dirty="0" smtClean="0"/>
              <a:t> C-a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smtClean="0"/>
              <a:t>Razvoj aplikacija kod </a:t>
            </a:r>
            <a:r>
              <a:rPr lang="hr-HR" dirty="0" err="1" smtClean="0"/>
              <a:t>Apple</a:t>
            </a:r>
            <a:r>
              <a:rPr lang="hr-HR" dirty="0" smtClean="0"/>
              <a:t>-a: </a:t>
            </a:r>
            <a:r>
              <a:rPr lang="hr-HR" dirty="0" err="1" smtClean="0"/>
              <a:t>iOS</a:t>
            </a:r>
            <a:r>
              <a:rPr lang="hr-HR" dirty="0" smtClean="0"/>
              <a:t> i </a:t>
            </a:r>
            <a:r>
              <a:rPr lang="hr-HR" dirty="0" err="1" smtClean="0"/>
              <a:t>macOS</a:t>
            </a:r>
            <a:r>
              <a:rPr lang="hr-HR" dirty="0" smtClean="0"/>
              <a:t> aplikacije.</a:t>
            </a:r>
          </a:p>
          <a:p>
            <a:endParaRPr lang="hr-HR" dirty="0" smtClean="0"/>
          </a:p>
          <a:p>
            <a:endParaRPr lang="hr-HR" dirty="0" smtClean="0"/>
          </a:p>
          <a:p>
            <a:r>
              <a:rPr lang="hr-HR" dirty="0" err="1" smtClean="0"/>
              <a:t>Intergracija</a:t>
            </a:r>
            <a:r>
              <a:rPr lang="hr-HR" dirty="0" smtClean="0"/>
              <a:t> s </a:t>
            </a:r>
            <a:r>
              <a:rPr lang="hr-HR" dirty="0" err="1" smtClean="0"/>
              <a:t>Cocoa</a:t>
            </a:r>
            <a:r>
              <a:rPr lang="hr-HR" dirty="0" smtClean="0"/>
              <a:t> </a:t>
            </a:r>
            <a:r>
              <a:rPr lang="hr-HR" dirty="0" err="1" smtClean="0"/>
              <a:t>Touch</a:t>
            </a:r>
            <a:r>
              <a:rPr lang="hr-HR" dirty="0" smtClean="0"/>
              <a:t> i </a:t>
            </a:r>
            <a:r>
              <a:rPr lang="hr-HR" dirty="0" err="1" smtClean="0"/>
              <a:t>Cocoa</a:t>
            </a:r>
            <a:r>
              <a:rPr lang="hr-HR" dirty="0" smtClean="0"/>
              <a:t> </a:t>
            </a:r>
            <a:r>
              <a:rPr lang="hr-HR" dirty="0" err="1" smtClean="0"/>
              <a:t>frameworkovima</a:t>
            </a:r>
            <a:r>
              <a:rPr lang="hr-HR" dirty="0" smtClean="0"/>
              <a:t>.</a:t>
            </a:r>
          </a:p>
          <a:p>
            <a:endParaRPr lang="hr-HR" dirty="0" smtClean="0"/>
          </a:p>
          <a:p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3. Primjena </a:t>
            </a:r>
            <a:r>
              <a:rPr lang="hr-HR" dirty="0" err="1" smtClean="0"/>
              <a:t>Objective</a:t>
            </a:r>
            <a:r>
              <a:rPr lang="hr-HR" dirty="0" smtClean="0"/>
              <a:t> C-a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smtClean="0"/>
              <a:t>Rad s korisničkim sučeljem i multimedijom.</a:t>
            </a:r>
          </a:p>
          <a:p>
            <a:endParaRPr lang="hr-HR" dirty="0" smtClean="0"/>
          </a:p>
          <a:p>
            <a:endParaRPr lang="hr-HR" dirty="0" smtClean="0"/>
          </a:p>
          <a:p>
            <a:r>
              <a:rPr lang="hr-HR" dirty="0" smtClean="0"/>
              <a:t>Održavanje nekog starijeg koda: Mnoge naslijeđene aplikacije napisane su</a:t>
            </a:r>
          </a:p>
          <a:p>
            <a:pPr>
              <a:buNone/>
            </a:pPr>
            <a:r>
              <a:rPr lang="hr-HR" dirty="0" smtClean="0"/>
              <a:t>   u </a:t>
            </a:r>
            <a:r>
              <a:rPr lang="hr-HR" dirty="0" err="1" smtClean="0"/>
              <a:t>Objective</a:t>
            </a:r>
            <a:r>
              <a:rPr lang="hr-HR" dirty="0" smtClean="0"/>
              <a:t> C-u.</a:t>
            </a: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 smtClean="0"/>
              <a:t>4. Primjer programa </a:t>
            </a:r>
            <a:r>
              <a:rPr lang="hr-HR" dirty="0" smtClean="0"/>
              <a:t>1:</a:t>
            </a:r>
            <a:br>
              <a:rPr lang="hr-HR" dirty="0" smtClean="0"/>
            </a:br>
            <a:r>
              <a:rPr lang="hr-HR" dirty="0" smtClean="0"/>
              <a:t>	</a:t>
            </a:r>
            <a:r>
              <a:rPr lang="hr-HR" dirty="0" smtClean="0"/>
              <a:t>			</a:t>
            </a:r>
            <a:r>
              <a:rPr lang="hr-HR" sz="3600" dirty="0" smtClean="0"/>
              <a:t>Deklaracija klase</a:t>
            </a:r>
            <a:endParaRPr lang="hr-HR" sz="3600" dirty="0"/>
          </a:p>
        </p:txBody>
      </p:sp>
      <p:pic>
        <p:nvPicPr>
          <p:cNvPr id="4" name="Rezervirano mjesto sadržaja 3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9592" y="2708920"/>
            <a:ext cx="7344816" cy="352839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 smtClean="0"/>
              <a:t>4. Primjer programa </a:t>
            </a:r>
            <a:r>
              <a:rPr lang="hr-HR" dirty="0" smtClean="0"/>
              <a:t>2:</a:t>
            </a:r>
            <a:br>
              <a:rPr lang="hr-HR" dirty="0" smtClean="0"/>
            </a:br>
            <a:r>
              <a:rPr lang="hr-HR" sz="3600" dirty="0" smtClean="0"/>
              <a:t>Dodavanje metoda klasama bez izmjena</a:t>
            </a:r>
            <a:endParaRPr lang="hr-HR" dirty="0"/>
          </a:p>
        </p:txBody>
      </p:sp>
      <p:pic>
        <p:nvPicPr>
          <p:cNvPr id="4" name="Rezervirano mjesto sadržaja 3" descr="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9592" y="2708920"/>
            <a:ext cx="7128792" cy="32403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 smtClean="0"/>
              <a:t>4. Primjer programa </a:t>
            </a:r>
            <a:r>
              <a:rPr lang="hr-HR" dirty="0" smtClean="0"/>
              <a:t>3:</a:t>
            </a:r>
            <a:br>
              <a:rPr lang="hr-HR" dirty="0" smtClean="0"/>
            </a:br>
            <a:r>
              <a:rPr lang="hr-HR" dirty="0" smtClean="0"/>
              <a:t>			</a:t>
            </a:r>
            <a:r>
              <a:rPr lang="hr-HR" sz="3600" dirty="0" smtClean="0"/>
              <a:t>ARC upravljanje memorijom</a:t>
            </a:r>
            <a:endParaRPr lang="hr-HR" dirty="0"/>
          </a:p>
        </p:txBody>
      </p:sp>
      <p:pic>
        <p:nvPicPr>
          <p:cNvPr id="4" name="Rezervirano mjesto sadržaja 3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43609" y="2564904"/>
            <a:ext cx="6984776" cy="367240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 smtClean="0"/>
              <a:t>4. Primjer programa </a:t>
            </a:r>
            <a:r>
              <a:rPr lang="hr-HR" dirty="0" smtClean="0"/>
              <a:t>4:</a:t>
            </a:r>
            <a:br>
              <a:rPr lang="hr-HR" dirty="0" smtClean="0"/>
            </a:br>
            <a:r>
              <a:rPr lang="hr-HR" dirty="0" smtClean="0"/>
              <a:t>				</a:t>
            </a:r>
            <a:r>
              <a:rPr lang="hr-HR" sz="3600" dirty="0" smtClean="0"/>
              <a:t>Korištenje blokova</a:t>
            </a:r>
            <a:endParaRPr lang="hr-HR" dirty="0"/>
          </a:p>
        </p:txBody>
      </p:sp>
      <p:pic>
        <p:nvPicPr>
          <p:cNvPr id="4" name="Rezervirano mjesto sadržaja 3" descr="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27584" y="2348880"/>
            <a:ext cx="7272807" cy="396044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 smtClean="0"/>
              <a:t>5. Napredne značajke </a:t>
            </a:r>
            <a:r>
              <a:rPr lang="hr-HR" dirty="0" err="1" smtClean="0"/>
              <a:t>Objective</a:t>
            </a:r>
            <a:r>
              <a:rPr lang="hr-HR" dirty="0" smtClean="0"/>
              <a:t> C-a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smtClean="0"/>
              <a:t>Blokovi: Funkcije </a:t>
            </a:r>
            <a:r>
              <a:rPr lang="hr-HR" dirty="0" err="1" smtClean="0"/>
              <a:t>inline</a:t>
            </a:r>
            <a:r>
              <a:rPr lang="hr-HR" dirty="0" smtClean="0"/>
              <a:t> definirane.</a:t>
            </a:r>
            <a:endParaRPr lang="hr-HR" dirty="0" smtClean="0"/>
          </a:p>
          <a:p>
            <a:r>
              <a:rPr lang="hr-HR" dirty="0" smtClean="0"/>
              <a:t>Protokoli: Definiranje metoda koje se mogu implementirati od strane klase.</a:t>
            </a:r>
          </a:p>
          <a:p>
            <a:endParaRPr lang="hr-HR" dirty="0" smtClean="0"/>
          </a:p>
          <a:p>
            <a:r>
              <a:rPr lang="hr-HR" dirty="0" err="1" smtClean="0"/>
              <a:t>Runtime</a:t>
            </a:r>
            <a:r>
              <a:rPr lang="hr-HR" dirty="0" smtClean="0"/>
              <a:t> refleksija: Introspekcija i dinamičke promijene u </a:t>
            </a:r>
            <a:r>
              <a:rPr lang="hr-HR" dirty="0" err="1" smtClean="0"/>
              <a:t>runtime</a:t>
            </a:r>
            <a:r>
              <a:rPr lang="hr-HR" dirty="0" smtClean="0"/>
              <a:t>-u.</a:t>
            </a:r>
          </a:p>
          <a:p>
            <a:r>
              <a:rPr lang="hr-HR" dirty="0" err="1" smtClean="0"/>
              <a:t>Metaprogramiranje</a:t>
            </a:r>
            <a:r>
              <a:rPr lang="hr-HR" dirty="0" smtClean="0"/>
              <a:t>: Generički i fleksibilan kod.</a:t>
            </a: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6. Usporedba </a:t>
            </a:r>
            <a:r>
              <a:rPr lang="hr-HR" dirty="0" err="1" smtClean="0"/>
              <a:t>Objective</a:t>
            </a:r>
            <a:r>
              <a:rPr lang="hr-HR" dirty="0" smtClean="0"/>
              <a:t> C-a i C++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i C++ su Objektno orijentirani.</a:t>
            </a:r>
          </a:p>
          <a:p>
            <a:endParaRPr lang="hr-HR" dirty="0" smtClean="0"/>
          </a:p>
          <a:p>
            <a:r>
              <a:rPr lang="hr-HR" dirty="0" smtClean="0"/>
              <a:t>Oba jezika su potpuno kompatibilna s C-om.</a:t>
            </a:r>
          </a:p>
          <a:p>
            <a:endParaRPr lang="hr-HR" dirty="0" smtClean="0"/>
          </a:p>
          <a:p>
            <a:r>
              <a:rPr lang="hr-HR" dirty="0" smtClean="0"/>
              <a:t>ARC upravljanje memorijom kod </a:t>
            </a:r>
            <a:r>
              <a:rPr lang="hr-HR" dirty="0" err="1" smtClean="0"/>
              <a:t>Objective</a:t>
            </a:r>
            <a:r>
              <a:rPr lang="hr-HR" dirty="0" smtClean="0"/>
              <a:t> C-a, </a:t>
            </a:r>
            <a:r>
              <a:rPr lang="hr-HR" dirty="0" err="1" smtClean="0"/>
              <a:t>a</a:t>
            </a:r>
            <a:r>
              <a:rPr lang="hr-HR" dirty="0" smtClean="0"/>
              <a:t> s druge strane ručno upravljanje ili pomoću pametnih pokazivača kod C++-a.</a:t>
            </a:r>
            <a:endParaRPr lang="hr-HR" dirty="0" smtClean="0"/>
          </a:p>
          <a:p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6. Usporedba </a:t>
            </a:r>
            <a:r>
              <a:rPr lang="hr-HR" dirty="0" err="1" smtClean="0"/>
              <a:t>Objective</a:t>
            </a:r>
            <a:r>
              <a:rPr lang="hr-HR" dirty="0" smtClean="0"/>
              <a:t> C-a i C++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ima dinamičko, a C++ statičko slanje </a:t>
            </a:r>
            <a:r>
              <a:rPr lang="hr-HR" dirty="0" smtClean="0"/>
              <a:t>poruka.</a:t>
            </a:r>
            <a:endParaRPr lang="hr-HR" dirty="0" smtClean="0"/>
          </a:p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biblioteke: </a:t>
            </a:r>
            <a:r>
              <a:rPr lang="hr-HR" dirty="0" err="1" smtClean="0"/>
              <a:t>Cocoa</a:t>
            </a:r>
            <a:r>
              <a:rPr lang="hr-HR" dirty="0" smtClean="0"/>
              <a:t>, </a:t>
            </a:r>
            <a:r>
              <a:rPr lang="hr-HR" dirty="0" err="1" smtClean="0"/>
              <a:t>Foundation</a:t>
            </a:r>
            <a:r>
              <a:rPr lang="hr-HR" dirty="0" smtClean="0"/>
              <a:t>.</a:t>
            </a:r>
          </a:p>
          <a:p>
            <a:r>
              <a:rPr lang="hr-HR" dirty="0" smtClean="0"/>
              <a:t>C++ biblioteke: STL, </a:t>
            </a:r>
            <a:r>
              <a:rPr lang="hr-HR" dirty="0" err="1" smtClean="0"/>
              <a:t>Boost</a:t>
            </a:r>
            <a:r>
              <a:rPr lang="hr-HR" dirty="0" smtClean="0"/>
              <a:t>…</a:t>
            </a:r>
          </a:p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je zbog svoje dinamike sporiji od C++-a.</a:t>
            </a: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7. Zaključak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hr-HR" dirty="0" smtClean="0"/>
          </a:p>
          <a:p>
            <a:r>
              <a:rPr lang="hr-HR" dirty="0" smtClean="0"/>
              <a:t>Prednosti:</a:t>
            </a:r>
          </a:p>
          <a:p>
            <a:pPr lvl="1"/>
            <a:r>
              <a:rPr lang="hr-HR" dirty="0" smtClean="0"/>
              <a:t>-kompatibilnost s C-om</a:t>
            </a:r>
          </a:p>
          <a:p>
            <a:pPr lvl="1"/>
            <a:r>
              <a:rPr lang="hr-HR" dirty="0" smtClean="0"/>
              <a:t>-veća širina zbog dinamičnosti</a:t>
            </a:r>
          </a:p>
          <a:p>
            <a:pPr lvl="1"/>
            <a:r>
              <a:rPr lang="hr-HR" dirty="0" smtClean="0"/>
              <a:t>-biblioteke</a:t>
            </a:r>
            <a:endParaRPr lang="hr-HR" dirty="0" smtClean="0"/>
          </a:p>
          <a:p>
            <a:r>
              <a:rPr lang="hr-HR" dirty="0" smtClean="0"/>
              <a:t>Nedostatci:</a:t>
            </a:r>
          </a:p>
          <a:p>
            <a:pPr lvl="1"/>
            <a:r>
              <a:rPr lang="hr-HR" dirty="0" smtClean="0"/>
              <a:t>-sporiji zbog dinamičnosti</a:t>
            </a:r>
          </a:p>
          <a:p>
            <a:pPr lvl="1"/>
            <a:r>
              <a:rPr lang="hr-HR" dirty="0" smtClean="0"/>
              <a:t>-zamjenjuje ga se novijim jezicima</a:t>
            </a:r>
          </a:p>
          <a:p>
            <a:pPr lvl="1"/>
            <a:endParaRPr lang="hr-HR" dirty="0" smtClean="0"/>
          </a:p>
          <a:p>
            <a:pPr lvl="1">
              <a:buNone/>
            </a:pPr>
            <a:endParaRPr lang="hr-HR" dirty="0" smtClean="0"/>
          </a:p>
          <a:p>
            <a:pPr lvl="1">
              <a:buNone/>
            </a:pPr>
            <a:endParaRPr lang="hr-H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7. Zaključak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 smtClean="0"/>
          </a:p>
          <a:p>
            <a:endParaRPr lang="hr-HR" dirty="0" smtClean="0"/>
          </a:p>
          <a:p>
            <a:r>
              <a:rPr lang="hr-HR" dirty="0" err="1" smtClean="0"/>
              <a:t>Objective</a:t>
            </a:r>
            <a:r>
              <a:rPr lang="hr-HR" dirty="0" smtClean="0"/>
              <a:t> C je i dalje bitan programski jezik te ga</a:t>
            </a:r>
            <a:endParaRPr lang="hr-HR" dirty="0" smtClean="0"/>
          </a:p>
          <a:p>
            <a:pPr>
              <a:buNone/>
            </a:pPr>
            <a:r>
              <a:rPr lang="hr-HR" dirty="0" smtClean="0"/>
              <a:t> </a:t>
            </a:r>
            <a:r>
              <a:rPr lang="hr-HR" dirty="0" smtClean="0"/>
              <a:t>  krase neke velike značajke o kojima smo pričali,</a:t>
            </a:r>
          </a:p>
          <a:p>
            <a:pPr>
              <a:buNone/>
            </a:pPr>
            <a:endParaRPr lang="hr-HR" dirty="0" smtClean="0"/>
          </a:p>
          <a:p>
            <a:pPr>
              <a:buNone/>
            </a:pPr>
            <a:r>
              <a:rPr lang="hr-HR" dirty="0" smtClean="0"/>
              <a:t> </a:t>
            </a:r>
            <a:r>
              <a:rPr lang="hr-HR" dirty="0" smtClean="0"/>
              <a:t> </a:t>
            </a:r>
            <a:r>
              <a:rPr lang="hr-HR" dirty="0" smtClean="0"/>
              <a:t> a kroz godine koje idu će i dalje biti bitan faktor</a:t>
            </a:r>
            <a:endParaRPr lang="hr-HR" dirty="0" smtClean="0"/>
          </a:p>
          <a:p>
            <a:pPr>
              <a:buNone/>
            </a:pPr>
            <a:r>
              <a:rPr lang="hr-HR" dirty="0" smtClean="0"/>
              <a:t> </a:t>
            </a:r>
            <a:r>
              <a:rPr lang="hr-HR" dirty="0" smtClean="0"/>
              <a:t> </a:t>
            </a:r>
            <a:r>
              <a:rPr lang="hr-HR" dirty="0" smtClean="0"/>
              <a:t> </a:t>
            </a:r>
            <a:r>
              <a:rPr lang="hr-HR" dirty="0" err="1" smtClean="0"/>
              <a:t>Apple</a:t>
            </a:r>
            <a:r>
              <a:rPr lang="hr-HR" dirty="0" smtClean="0"/>
              <a:t>-ovog okruženja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539552" y="3068960"/>
            <a:ext cx="8147248" cy="1066800"/>
          </a:xfrm>
        </p:spPr>
        <p:txBody>
          <a:bodyPr>
            <a:noAutofit/>
          </a:bodyPr>
          <a:lstStyle/>
          <a:p>
            <a:pPr algn="ctr"/>
            <a:r>
              <a:rPr lang="hr-HR" sz="7200" dirty="0" smtClean="0"/>
              <a:t>KRAJ!</a:t>
            </a:r>
            <a:br>
              <a:rPr lang="hr-HR" sz="7200" dirty="0" smtClean="0"/>
            </a:br>
            <a:r>
              <a:rPr lang="hr-HR" sz="7200" dirty="0" smtClean="0"/>
              <a:t>Hvala na pažnji!</a:t>
            </a:r>
            <a:endParaRPr lang="hr-HR" sz="7200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 flipH="1" flipV="1">
            <a:off x="6876257" y="3933056"/>
            <a:ext cx="1764824" cy="2687198"/>
          </a:xfrm>
        </p:spPr>
        <p:txBody>
          <a:bodyPr>
            <a:normAutofit/>
          </a:bodyPr>
          <a:lstStyle/>
          <a:p>
            <a:pPr>
              <a:buNone/>
            </a:pP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454</TotalTime>
  <Words>405</Words>
  <Application>Microsoft Office PowerPoint</Application>
  <PresentationFormat>Prikaz na zaslonu (4:3)</PresentationFormat>
  <Paragraphs>85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17</vt:i4>
      </vt:variant>
    </vt:vector>
  </HeadingPairs>
  <TitlesOfParts>
    <vt:vector size="18" baseType="lpstr">
      <vt:lpstr>Urbano</vt:lpstr>
      <vt:lpstr>Objective C</vt:lpstr>
      <vt:lpstr>1. Uvod u Objective C</vt:lpstr>
      <vt:lpstr>1. Uvod u Objective C</vt:lpstr>
      <vt:lpstr>2. Svojstva Objective C-a</vt:lpstr>
      <vt:lpstr>2. Svojstva Objective C-a</vt:lpstr>
      <vt:lpstr>3. Primjena Objective C-a</vt:lpstr>
      <vt:lpstr>3. Primjena Objective C-a</vt:lpstr>
      <vt:lpstr>4. Primjer programa 1:     Deklaracija klase</vt:lpstr>
      <vt:lpstr>4. Primjer programa 2: Dodavanje metoda klasama bez izmjena</vt:lpstr>
      <vt:lpstr>4. Primjer programa 3:    ARC upravljanje memorijom</vt:lpstr>
      <vt:lpstr>4. Primjer programa 4:     Korištenje blokova</vt:lpstr>
      <vt:lpstr>5. Napredne značajke Objective C-a</vt:lpstr>
      <vt:lpstr>6. Usporedba Objective C-a i C++</vt:lpstr>
      <vt:lpstr>6. Usporedba Objective C-a i C++</vt:lpstr>
      <vt:lpstr>7. Zaključak</vt:lpstr>
      <vt:lpstr>7. Zaključak</vt:lpstr>
      <vt:lpstr>KRAJ! Hvala na pažnji!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 C</dc:title>
  <dc:creator>JERKOVIĆ</dc:creator>
  <cp:lastModifiedBy>JERKOVIĆ</cp:lastModifiedBy>
  <cp:revision>21</cp:revision>
  <dcterms:created xsi:type="dcterms:W3CDTF">2025-01-11T17:37:49Z</dcterms:created>
  <dcterms:modified xsi:type="dcterms:W3CDTF">2025-01-12T17:23:22Z</dcterms:modified>
</cp:coreProperties>
</file>